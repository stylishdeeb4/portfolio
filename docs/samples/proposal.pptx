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74519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A8F0"/>
                </a:solidFill>
                <a:latin typeface="Yu Gothic"/>
              </a:rPr>
              <a:t>企画提案書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Yu Gothic"/>
              </a:rPr>
              <a:t>アルバイトの「給料が読めない」を解消する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Yu Gothic"/>
              </a:rPr>
              <a:t>シフト給料計算アプリの企画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977639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C4CEDC"/>
                </a:solidFill>
                <a:latin typeface="Yu Gothic"/>
              </a:rPr>
              <a:t>深夜・残業・年収の壁までを自動計算し、働く前に手取りの見込みを把握できるようにする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800600"/>
            <a:ext cx="2011680" cy="19050"/>
          </a:xfrm>
          <a:prstGeom prst="rect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507492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939FAD"/>
                </a:solidFill>
                <a:latin typeface="Yu Gothic"/>
              </a:rPr>
              <a:t>2026年8月　neo.solution　※資料作成の制作サンプルです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82296" cy="420624"/>
          </a:xfrm>
          <a:prstGeom prst="rect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53035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430"/>
                </a:solidFill>
                <a:latin typeface="Yu Gothic"/>
              </a:rPr>
              <a:t>本日ご説明する内容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878"/>
                </a:solidFill>
                <a:latin typeface="Yu Gothic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475488" cy="475488"/>
          </a:xfrm>
          <a:prstGeom prst="roundRect">
            <a:avLst>
              <a:gd name="adj" fmla="val 6000"/>
            </a:avLst>
          </a:prstGeom>
          <a:solidFill>
            <a:srgbClr val="8FA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83664"/>
            <a:ext cx="47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C4BC7"/>
                </a:solidFill>
                <a:latin typeface="Yu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背景と課題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8288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アルバイト本人が給料を把握できていない現状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475488" cy="475488"/>
          </a:xfrm>
          <a:prstGeom prst="roundRect">
            <a:avLst>
              <a:gd name="adj" fmla="val 6000"/>
            </a:avLst>
          </a:prstGeom>
          <a:solidFill>
            <a:srgbClr val="8FA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23744"/>
            <a:ext cx="47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C4BC7"/>
                </a:solidFill>
                <a:latin typeface="Yu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4144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想定ユーザー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688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誰の、どの場面の困りごとを解決するか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63240"/>
            <a:ext cx="475488" cy="475488"/>
          </a:xfrm>
          <a:prstGeom prst="roundRect">
            <a:avLst>
              <a:gd name="adj" fmla="val 6000"/>
            </a:avLst>
          </a:prstGeom>
          <a:solidFill>
            <a:srgbClr val="8FA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63824"/>
            <a:ext cx="47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C4BC7"/>
                </a:solidFill>
                <a:latin typeface="Yu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8152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解決策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10896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提供する体験と、計算の考え方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03320"/>
            <a:ext cx="475488" cy="475488"/>
          </a:xfrm>
          <a:prstGeom prst="roundRect">
            <a:avLst>
              <a:gd name="adj" fmla="val 6000"/>
            </a:avLst>
          </a:prstGeom>
          <a:solidFill>
            <a:srgbClr val="8FA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03904"/>
            <a:ext cx="47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C4BC7"/>
                </a:solidFill>
                <a:latin typeface="Yu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2160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主な機能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74904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実装した4つの柱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343400"/>
            <a:ext cx="475488" cy="475488"/>
          </a:xfrm>
          <a:prstGeom prst="roundRect">
            <a:avLst>
              <a:gd name="adj" fmla="val 6000"/>
            </a:avLst>
          </a:prstGeom>
          <a:solidFill>
            <a:srgbClr val="8FA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443984"/>
            <a:ext cx="47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C4BC7"/>
                </a:solidFill>
                <a:latin typeface="Yu Gothi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36168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差別化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3891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既存の給与計算ツールとの違い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983480"/>
            <a:ext cx="475488" cy="475488"/>
          </a:xfrm>
          <a:prstGeom prst="roundRect">
            <a:avLst>
              <a:gd name="adj" fmla="val 6000"/>
            </a:avLst>
          </a:prstGeom>
          <a:solidFill>
            <a:srgbClr val="8FA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084064"/>
            <a:ext cx="47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C4BC7"/>
                </a:solidFill>
                <a:latin typeface="Yu Gothic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00176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開発ロードマップ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0292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リリースまでの進め方と今後の展開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623560"/>
            <a:ext cx="475488" cy="475488"/>
          </a:xfrm>
          <a:prstGeom prst="roundRect">
            <a:avLst>
              <a:gd name="adj" fmla="val 6000"/>
            </a:avLst>
          </a:prstGeom>
          <a:solidFill>
            <a:srgbClr val="8FA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724144"/>
            <a:ext cx="47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C4BC7"/>
                </a:solidFill>
                <a:latin typeface="Yu Gothic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641848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成果と検証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566928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公開状況と、品質をどう担保したか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39FAD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82296" cy="420624"/>
          </a:xfrm>
          <a:prstGeom prst="rect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53035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430"/>
                </a:solidFill>
                <a:latin typeface="Yu Gothic"/>
              </a:rPr>
              <a:t>背景：働く本人が、自分の給料を計算できていない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878"/>
                </a:solidFill>
                <a:latin typeface="Yu Gothic"/>
              </a:rPr>
              <a:t>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10712" cy="3200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2585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C4BC7"/>
                </a:solidFill>
                <a:latin typeface="Yu Gothic"/>
              </a:rPr>
              <a:t>課題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587752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C2430"/>
                </a:solidFill>
                <a:latin typeface="Yu Gothic"/>
              </a:rPr>
              <a:t>割増賃金が分かりにくい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344728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深夜（22時〜5時）は25%増、1日8時間や週40時間を超えると残業割増。ルールは知られていても、自分のシフトに当てはめて計算するのは負担が大きい。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410712" cy="3200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22585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C4BC7"/>
                </a:solidFill>
                <a:latin typeface="Yu Gothic"/>
              </a:rPr>
              <a:t>課題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587752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C2430"/>
                </a:solidFill>
                <a:latin typeface="Yu Gothic"/>
              </a:rPr>
              <a:t>「年収の壁」が複雑化した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344728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2025年の税制改正で基準額が変わり、扶養・住民税・社会保険で壁が分かれた。学生かどうかでも基準が異なり、自分がどれに該当するのか判断しづらい。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65960"/>
            <a:ext cx="3410712" cy="3200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22585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C4BC7"/>
                </a:solidFill>
                <a:latin typeface="Yu Gothic"/>
              </a:rPr>
              <a:t>課題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587752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C2430"/>
                </a:solidFill>
                <a:latin typeface="Yu Gothic"/>
              </a:rPr>
              <a:t>既存ツールは事業者向け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344728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勤怠管理サービスの多くは雇用する側の視点で作られている。働く本人が、自分のシフトだけを手軽に試算できる手段が少ない。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39FAD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82296" cy="420624"/>
          </a:xfrm>
          <a:prstGeom prst="rect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53035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430"/>
                </a:solidFill>
                <a:latin typeface="Yu Gothic"/>
              </a:rPr>
              <a:t>想定ユーザーと、解決したい場面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878"/>
                </a:solidFill>
                <a:latin typeface="Yu Gothic"/>
              </a:rPr>
              <a:t>TARGET 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10712" cy="3200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2585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C4BC7"/>
                </a:solidFill>
                <a:latin typeface="Yu Gothic"/>
              </a:rPr>
              <a:t>主要ターゲット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587752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C2430"/>
                </a:solidFill>
                <a:latin typeface="Yu Gothic"/>
              </a:rPr>
              <a:t>扶養の範囲で働く学生・パート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344728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「今月あと何時間まで入れるか」を月末ごとに悩んでいる層。壁を超えると手取りが減るため、シフトを入れる前に判断したい。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410712" cy="3200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22585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C4BC7"/>
                </a:solidFill>
                <a:latin typeface="Yu Gothic"/>
              </a:rPr>
              <a:t>利用場面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2587752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C2430"/>
                </a:solidFill>
                <a:latin typeface="Yu Gothic"/>
              </a:rPr>
              <a:t>シフト提出の前と、月末の見直し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344728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来月のシフトを出す前に見込みを確認する。月の途中で「あと何時間働けるか」を確認する。この2場面で使われることを想定。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65960"/>
            <a:ext cx="3410712" cy="320040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22585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C4BC7"/>
                </a:solidFill>
                <a:latin typeface="Yu Gothic"/>
              </a:rPr>
              <a:t>提供価値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587752"/>
            <a:ext cx="2788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C2430"/>
                </a:solidFill>
                <a:latin typeface="Yu Gothic"/>
              </a:rPr>
              <a:t>入力3分で、判断材料が手に入る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3447288"/>
            <a:ext cx="2788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勤務時間と時給を入れるだけで、割増込みの支給見込みと、年収の壁までの残り時間が分かる。会員登録や初期設定は不要。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39FAD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82296" cy="420624"/>
          </a:xfrm>
          <a:prstGeom prst="rect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53035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430"/>
                </a:solidFill>
                <a:latin typeface="Yu Gothic"/>
              </a:rPr>
              <a:t>解決策：計算ロジックを内側に隠し、入力は最小限に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878"/>
                </a:solidFill>
                <a:latin typeface="Yu Gothic"/>
              </a:rPr>
              <a:t>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10817352" cy="475488"/>
          </a:xfrm>
          <a:prstGeom prst="rect">
            <a:avLst/>
          </a:prstGeom>
          <a:solidFill>
            <a:srgbClr val="14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84832"/>
            <a:ext cx="18891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Yu Gothic"/>
              </a:rPr>
              <a:t>項目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0438" y="2084832"/>
            <a:ext cx="56752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Yu Gothic"/>
              </a:rPr>
              <a:t>計算の考え方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9981" y="2084832"/>
            <a:ext cx="2430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Yu Gothic"/>
              </a:rPr>
              <a:t>利用者の入力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41448"/>
            <a:ext cx="10817352" cy="47548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916936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560320"/>
            <a:ext cx="18891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430"/>
                </a:solidFill>
                <a:latin typeface="Yu Gothic"/>
              </a:rPr>
              <a:t>実働時間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0438" y="2560320"/>
            <a:ext cx="56752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拘束時間から休憩を差し引いて算出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9981" y="2560320"/>
            <a:ext cx="2430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開始・終了・休憩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392424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035808"/>
            <a:ext cx="18891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430"/>
                </a:solidFill>
                <a:latin typeface="Yu Gothic"/>
              </a:rPr>
              <a:t>深夜割増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0438" y="3035808"/>
            <a:ext cx="56752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22:00〜翌5:00に重なる時間へ +25% を加算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9981" y="3035808"/>
            <a:ext cx="2430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自動判定（入力不要）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392424"/>
            <a:ext cx="10817352" cy="47548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867912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511296"/>
            <a:ext cx="18891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430"/>
                </a:solidFill>
                <a:latin typeface="Yu Gothic"/>
              </a:rPr>
              <a:t>残業割増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0438" y="3511296"/>
            <a:ext cx="56752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1日8時間超・週40時間超へ +25%。重複分は二重計上しない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9981" y="3511296"/>
            <a:ext cx="2430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自動判定（入力不要）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343400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3986784"/>
            <a:ext cx="18891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430"/>
                </a:solidFill>
                <a:latin typeface="Yu Gothic"/>
              </a:rPr>
              <a:t>日またぎ勤務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50438" y="3986784"/>
            <a:ext cx="56752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終了が開始より前の時刻なら翌日にまたぐ勤務として処理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9981" y="3986784"/>
            <a:ext cx="2430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自動判定（入力不要）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343400"/>
            <a:ext cx="10817352" cy="47548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4818888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4462272"/>
            <a:ext cx="188915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430"/>
                </a:solidFill>
                <a:latin typeface="Yu Gothic"/>
              </a:rPr>
              <a:t>年収の壁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50438" y="4462272"/>
            <a:ext cx="56752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交通費を除いた累計収入を、該当する基準額と比較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9981" y="4462272"/>
            <a:ext cx="24300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属性を1回選ぶだけ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9788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39FAD"/>
                </a:solidFill>
                <a:latin typeface="Yu Gothic"/>
              </a:rPr>
              <a:t>※ 表示額は控除前の目安。締め日・端数処理は勤務先の規定によるため、給与明細と一致しない場合がある旨を画面に明記しています。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39FAD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82296" cy="420624"/>
          </a:xfrm>
          <a:prstGeom prst="rect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53035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430"/>
                </a:solidFill>
                <a:latin typeface="Yu Gothic"/>
              </a:rPr>
              <a:t>主な機能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878"/>
                </a:solidFill>
                <a:latin typeface="Yu Gothic"/>
              </a:rPr>
              <a:t>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3410712" cy="193852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8541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C4BC7"/>
                </a:solidFill>
                <a:latin typeface="Yu Gothic"/>
              </a:rPr>
              <a:t>機能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28620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2430"/>
                </a:solidFill>
                <a:latin typeface="Yu Gothic"/>
              </a:rPr>
              <a:t>カレンダー入力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44952"/>
            <a:ext cx="2862072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>
                <a:solidFill>
                  <a:srgbClr val="5A6878"/>
                </a:solidFill>
                <a:latin typeface="Yu Gothic"/>
              </a:rPr>
              <a:t>日付を押してシフトを登録。入力中にその場で支給額を計算し、保存前に確認できる。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65960"/>
            <a:ext cx="3410712" cy="193852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8541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C4BC7"/>
                </a:solidFill>
                <a:latin typeface="Yu Gothic"/>
              </a:rPr>
              <a:t>機能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80"/>
            <a:ext cx="28620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2430"/>
                </a:solidFill>
                <a:latin typeface="Yu Gothic"/>
              </a:rPr>
              <a:t>自動割増計算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044952"/>
            <a:ext cx="2862072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>
                <a:solidFill>
                  <a:srgbClr val="5A6878"/>
                </a:solidFill>
                <a:latin typeface="Yu Gothic"/>
              </a:rPr>
              <a:t>深夜・残業・日またぎを自動判定。利用者が意識するのは勤務時間と時給のみ。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65960"/>
            <a:ext cx="3410712" cy="193852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18541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C4BC7"/>
                </a:solidFill>
                <a:latin typeface="Yu Gothic"/>
              </a:rPr>
              <a:t>機能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468880"/>
            <a:ext cx="28620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2430"/>
                </a:solidFill>
                <a:latin typeface="Yu Gothic"/>
              </a:rPr>
              <a:t>年収の壁メーター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044952"/>
            <a:ext cx="2862072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>
                <a:solidFill>
                  <a:srgbClr val="5A6878"/>
                </a:solidFill>
                <a:latin typeface="Yu Gothic"/>
              </a:rPr>
              <a:t>累計収入と基準額の距離を表示。残り何時間働けるかを時給から逆算して提示。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78808"/>
            <a:ext cx="3410712" cy="193852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3982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C4BC7"/>
                </a:solidFill>
                <a:latin typeface="Yu Gothic"/>
              </a:rPr>
              <a:t>機能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681728"/>
            <a:ext cx="28620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2430"/>
                </a:solidFill>
                <a:latin typeface="Yu Gothic"/>
              </a:rPr>
              <a:t>CSV書き出し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57800"/>
            <a:ext cx="2862072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>
                <a:solidFill>
                  <a:srgbClr val="5A6878"/>
                </a:solidFill>
                <a:latin typeface="Yu Gothic"/>
              </a:rPr>
              <a:t>記録を表計算ソフトへ。自分で保管・集計できる形式で出力。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178808"/>
            <a:ext cx="3410712" cy="193852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3982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C4BC7"/>
                </a:solidFill>
                <a:latin typeface="Yu Gothic"/>
              </a:rPr>
              <a:t>機能 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681728"/>
            <a:ext cx="28620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2430"/>
                </a:solidFill>
                <a:latin typeface="Yu Gothic"/>
              </a:rPr>
              <a:t>オフライン動作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257800"/>
            <a:ext cx="2862072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>
                <a:solidFill>
                  <a:srgbClr val="5A6878"/>
                </a:solidFill>
                <a:latin typeface="Yu Gothic"/>
              </a:rPr>
              <a:t>PWAとして端末に保存。通信のない場所でも起動して入力できる。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4178808"/>
            <a:ext cx="3410712" cy="1938528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3982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C4BC7"/>
                </a:solidFill>
                <a:latin typeface="Yu Gothic"/>
              </a:rPr>
              <a:t>機能 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681728"/>
            <a:ext cx="28620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C2430"/>
                </a:solidFill>
                <a:latin typeface="Yu Gothic"/>
              </a:rPr>
              <a:t>データは端末内に保持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5257800"/>
            <a:ext cx="2862072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>
                <a:solidFill>
                  <a:srgbClr val="5A6878"/>
                </a:solidFill>
                <a:latin typeface="Yu Gothic"/>
              </a:rPr>
              <a:t>サーバーへ送信しない設計。個人の収入情報を外部に出さない。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39FAD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82296" cy="420624"/>
          </a:xfrm>
          <a:prstGeom prst="rect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53035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430"/>
                </a:solidFill>
                <a:latin typeface="Yu Gothic"/>
              </a:rPr>
              <a:t>既存の選択肢との違い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878"/>
                </a:solidFill>
                <a:latin typeface="Yu Gothic"/>
              </a:rPr>
              <a:t>POSITIONING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10817352" cy="475488"/>
          </a:xfrm>
          <a:prstGeom prst="rect">
            <a:avLst/>
          </a:prstGeom>
          <a:solidFill>
            <a:srgbClr val="14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084832"/>
            <a:ext cx="1456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2617744" y="2084832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Yu Gothic"/>
              </a:rPr>
              <a:t>本アプリ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6602" y="2084832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Yu Gothic"/>
              </a:rPr>
              <a:t>勤怠管理サービス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5460" y="2084832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Yu Gothic"/>
              </a:rPr>
              <a:t>表計算での自作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41448"/>
            <a:ext cx="10817352" cy="47548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916936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560320"/>
            <a:ext cx="1456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430"/>
                </a:solidFill>
                <a:latin typeface="Yu Gothic"/>
              </a:rPr>
              <a:t>対象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7744" y="2560320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働く本人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6602" y="2560320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雇用する事業者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5460" y="2560320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働く本人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392424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035808"/>
            <a:ext cx="1456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430"/>
                </a:solidFill>
                <a:latin typeface="Yu Gothic"/>
              </a:rPr>
              <a:t>導入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7744" y="3035808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URLを開くだけ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6602" y="3035808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契約・初期設定が必要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5460" y="3035808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自分で数式を組む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392424"/>
            <a:ext cx="10817352" cy="47548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867912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511296"/>
            <a:ext cx="1456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430"/>
                </a:solidFill>
                <a:latin typeface="Yu Gothic"/>
              </a:rPr>
              <a:t>割増計算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17744" y="3511296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自動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46602" y="3511296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自動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75460" y="3511296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自分で実装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343400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3986784"/>
            <a:ext cx="1456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430"/>
                </a:solidFill>
                <a:latin typeface="Yu Gothic"/>
              </a:rPr>
              <a:t>年収の壁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17744" y="3986784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対応（2026年基準）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46602" y="3986784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対象外が多い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75460" y="3986784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自分で調べて実装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343400"/>
            <a:ext cx="10817352" cy="47548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4818888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4462272"/>
            <a:ext cx="1456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C2430"/>
                </a:solidFill>
                <a:latin typeface="Yu Gothic"/>
              </a:rPr>
              <a:t>費用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17744" y="4462272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無料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46602" y="4462272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有料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75460" y="4462272"/>
            <a:ext cx="27545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無料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39FAD"/>
                </a:solidFill>
                <a:latin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82296" cy="420624"/>
          </a:xfrm>
          <a:prstGeom prst="rect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53035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430"/>
                </a:solidFill>
                <a:latin typeface="Yu Gothic"/>
              </a:rPr>
              <a:t>開発ロードマップ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878"/>
                </a:solidFill>
                <a:latin typeface="Yu Gothic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779776"/>
            <a:ext cx="10817352" cy="19050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24985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C4BC7"/>
                </a:solidFill>
                <a:latin typeface="Yu Gothic"/>
              </a:rPr>
              <a:t>Phase 1 ─ 完了</a:t>
            </a:r>
          </a:p>
        </p:txBody>
      </p:sp>
      <p:sp>
        <p:nvSpPr>
          <p:cNvPr id="8" name="Oval 7"/>
          <p:cNvSpPr/>
          <p:nvPr/>
        </p:nvSpPr>
        <p:spPr>
          <a:xfrm>
            <a:off x="704088" y="2670048"/>
            <a:ext cx="219456" cy="219456"/>
          </a:xfrm>
          <a:prstGeom prst="ellipse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3090672"/>
            <a:ext cx="2498598" cy="2331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310128"/>
            <a:ext cx="19499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コア機能の実装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05072"/>
            <a:ext cx="19499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カレンダー入力、割増計算、年収の壁メーター、CSV出力までを実装。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8718" y="2377440"/>
            <a:ext cx="24985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C4BC7"/>
                </a:solidFill>
                <a:latin typeface="Yu Gothic"/>
              </a:rPr>
              <a:t>Phase 2 ─ 完了</a:t>
            </a:r>
          </a:p>
        </p:txBody>
      </p:sp>
      <p:sp>
        <p:nvSpPr>
          <p:cNvPr id="13" name="Oval 12"/>
          <p:cNvSpPr/>
          <p:nvPr/>
        </p:nvSpPr>
        <p:spPr>
          <a:xfrm>
            <a:off x="3477006" y="2670048"/>
            <a:ext cx="219456" cy="219456"/>
          </a:xfrm>
          <a:prstGeom prst="ellipse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8718" y="3090672"/>
            <a:ext cx="2498598" cy="2331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3038" y="3310128"/>
            <a:ext cx="19499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検証と公開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3038" y="4005072"/>
            <a:ext cx="19499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計算結果を手計算と照合して検証。PWA化し、一般公開まで完了。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1636" y="2377440"/>
            <a:ext cx="24985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C4BC7"/>
                </a:solidFill>
                <a:latin typeface="Yu Gothic"/>
              </a:rPr>
              <a:t>Phase 3 ─ 進行中</a:t>
            </a:r>
          </a:p>
        </p:txBody>
      </p:sp>
      <p:sp>
        <p:nvSpPr>
          <p:cNvPr id="18" name="Oval 17"/>
          <p:cNvSpPr/>
          <p:nvPr/>
        </p:nvSpPr>
        <p:spPr>
          <a:xfrm>
            <a:off x="6249924" y="2670048"/>
            <a:ext cx="219456" cy="219456"/>
          </a:xfrm>
          <a:prstGeom prst="ellipse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31636" y="3090672"/>
            <a:ext cx="2498598" cy="2331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5956" y="3310128"/>
            <a:ext cx="19499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利用状況の把握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956" y="4005072"/>
            <a:ext cx="19499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紹介動画を公開し、実際の使われ方と要望を収集している段階。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4554" y="2377440"/>
            <a:ext cx="24985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C4BC7"/>
                </a:solidFill>
                <a:latin typeface="Yu Gothic"/>
              </a:rPr>
              <a:t>Phase 4 ─ 計画</a:t>
            </a:r>
          </a:p>
        </p:txBody>
      </p:sp>
      <p:sp>
        <p:nvSpPr>
          <p:cNvPr id="23" name="Oval 22"/>
          <p:cNvSpPr/>
          <p:nvPr/>
        </p:nvSpPr>
        <p:spPr>
          <a:xfrm>
            <a:off x="9022842" y="2670048"/>
            <a:ext cx="219456" cy="219456"/>
          </a:xfrm>
          <a:prstGeom prst="ellipse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04554" y="3090672"/>
            <a:ext cx="2498598" cy="233172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8874" y="3310128"/>
            <a:ext cx="194995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>
                <a:solidFill>
                  <a:srgbClr val="1C2430"/>
                </a:solidFill>
                <a:latin typeface="Yu Gothic"/>
              </a:rPr>
              <a:t>締め日・複数勤務先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8874" y="4005072"/>
            <a:ext cx="194995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5A6878"/>
                </a:solidFill>
                <a:latin typeface="Yu Gothic"/>
              </a:rPr>
              <a:t>15日締めなどの締め日設定と、勤務先ごとの時給管理に対応予定。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39FAD"/>
                </a:solidFill>
                <a:latin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66928"/>
            <a:ext cx="82296" cy="420624"/>
          </a:xfrm>
          <a:prstGeom prst="rect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530352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C2430"/>
                </a:solidFill>
                <a:latin typeface="Yu Gothic"/>
              </a:rPr>
              <a:t>成果と品質の担保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1042415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878"/>
                </a:solidFill>
                <a:latin typeface="Yu Gothic"/>
              </a:rPr>
              <a:t>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10817352" cy="9525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248488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94560"/>
            <a:ext cx="2484882" cy="64008"/>
          </a:xfrm>
          <a:prstGeom prst="rect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48488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C4BC7"/>
                </a:solidFill>
                <a:latin typeface="Yu Gothic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2484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39FAD"/>
                </a:solidFill>
                <a:latin typeface="Yu Gothic"/>
              </a:rPr>
              <a:t>ケース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58768"/>
            <a:ext cx="248488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C2430"/>
                </a:solidFill>
                <a:latin typeface="Yu Gothic"/>
              </a:rPr>
              <a:t>手計算と照合した計算パターン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3290" y="2194560"/>
            <a:ext cx="248488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63290" y="2194560"/>
            <a:ext cx="2484882" cy="64008"/>
          </a:xfrm>
          <a:prstGeom prst="rect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3290" y="2697480"/>
            <a:ext cx="248488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C4BC7"/>
                </a:solidFill>
                <a:latin typeface="Yu Gothic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3290" y="3566160"/>
            <a:ext cx="2484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39FAD"/>
                </a:solidFill>
                <a:latin typeface="Yu Gothic"/>
              </a:rPr>
              <a:t>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3290" y="3858768"/>
            <a:ext cx="248488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C2430"/>
                </a:solidFill>
                <a:latin typeface="Yu Gothic"/>
              </a:rPr>
              <a:t>照合ケースの一致率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0780" y="2194560"/>
            <a:ext cx="248488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0780" y="2194560"/>
            <a:ext cx="2484882" cy="64008"/>
          </a:xfrm>
          <a:prstGeom prst="rect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0780" y="2697480"/>
            <a:ext cx="248488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C4BC7"/>
                </a:solidFill>
                <a:latin typeface="Yu Gothic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0780" y="3566160"/>
            <a:ext cx="2484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39FAD"/>
                </a:solidFill>
                <a:latin typeface="Yu Gothic"/>
              </a:rPr>
              <a:t>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0780" y="3858768"/>
            <a:ext cx="248488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C2430"/>
                </a:solidFill>
                <a:latin typeface="Yu Gothic"/>
              </a:rPr>
              <a:t>外部送信するデータ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8270" y="2194560"/>
            <a:ext cx="2484882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18270" y="2194560"/>
            <a:ext cx="2484882" cy="64008"/>
          </a:xfrm>
          <a:prstGeom prst="rect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8270" y="2697480"/>
            <a:ext cx="248488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C4BC7"/>
                </a:solidFill>
                <a:latin typeface="Yu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8270" y="3566160"/>
            <a:ext cx="248488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939FAD"/>
                </a:solidFill>
                <a:latin typeface="Yu Gothic"/>
              </a:rPr>
              <a:t>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8270" y="3858768"/>
            <a:ext cx="248488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C2430"/>
                </a:solidFill>
                <a:latin typeface="Yu Gothic"/>
              </a:rPr>
              <a:t>初回登録までの所要時間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681728"/>
            <a:ext cx="10817352" cy="8686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901184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5A6878"/>
                </a:solidFill>
                <a:latin typeface="Yu Gothic"/>
              </a:rPr>
              <a:t>深夜・残業・日またぎ・22時境界など6ケースを手計算と照合し、すべて一致を確認。週40時間超と1日8時間超の重複加算が起きないことも、2ケースで個別に検証しています。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2636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939FAD"/>
                </a:solidFill>
                <a:latin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Yu Gothic"/>
              </a:rPr>
              <a:t>働く前に、手取りが分かる状態をつくる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1188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50" b="0">
                <a:solidFill>
                  <a:srgbClr val="C4CEDC"/>
                </a:solidFill>
                <a:latin typeface="Yu Gothic"/>
              </a:rPr>
              <a:t>計算の複雑さはアプリ側で引き受け、利用者には「入力」と「判断」だけを残す。</a:t>
            </a:r>
          </a:p>
          <a:p>
            <a:pPr algn="l">
              <a:lnSpc>
                <a:spcPct val="160000"/>
              </a:lnSpc>
            </a:pPr>
            <a:r>
              <a:rPr sz="1450" b="0">
                <a:solidFill>
                  <a:srgbClr val="C4CEDC"/>
                </a:solidFill>
                <a:latin typeface="Yu Gothic"/>
              </a:rPr>
              <a:t>この考え方を軸に、締め日設定・複数勤務先への対応を進めていきます。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4892040"/>
            <a:ext cx="2011680" cy="19050"/>
          </a:xfrm>
          <a:prstGeom prst="rect">
            <a:avLst/>
          </a:prstGeom>
          <a:solidFill>
            <a:srgbClr val="2C4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16636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939FAD"/>
                </a:solidFill>
                <a:latin typeface="Yu Gothic"/>
              </a:rPr>
              <a:t>本資料は資料作成の制作サンプルです　—　neo.solution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939FAD"/>
                </a:solidFill>
                <a:latin typeface="Yu Gothic"/>
              </a:rPr>
              <a:t>https://stylishdeeb4.github.io/portfolio/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