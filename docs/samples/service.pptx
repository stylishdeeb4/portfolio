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ED3B9"/>
                </a:solidFill>
                <a:latin typeface="Yu Gothic"/>
              </a:rPr>
              <a:t>サービス紹介資料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Yu Gothic"/>
              </a:rPr>
              <a:t>現場の「聞かないと分からない」をなくす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Yu Gothic"/>
              </a:rPr>
              <a:t>手順書クラウド「テジュン」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776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C4CEDC"/>
                </a:solidFill>
                <a:latin typeface="Yu Gothic"/>
              </a:rPr>
              <a:t>散らばった手順書を1か所へ。更新のたびに、現場が見る版が自動で切り替わります。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800600"/>
            <a:ext cx="2011680" cy="19050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0749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39FAD"/>
                </a:solidFill>
                <a:latin typeface="Yu Gothic"/>
              </a:rPr>
              <a:t>※ 本資料は資料作成の制作サンプルです。サービス・数値はすべて架空のものです。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本日ご説明する内容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よくある課題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手順書が更新されず、現場で使われない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42616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603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サービス概要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5877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テジュンが提供する仕組み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00984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1927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3つの特長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3467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作る・届ける・見直すを1か所で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59936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導入イメージ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05656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利用開始までの流れ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18888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37176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料金プラン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6460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規模に応じた3プラン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7784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7ED3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67842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E8A6B"/>
                </a:solidFill>
                <a:latin typeface="Yu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導入効果（想定）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6235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指標でみる改善イメージ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手順書は「作ったあと」に壊れていく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課題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どれが最新版か分からない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共有フォルダに『最終版』『最終版2』が並び、現場は結局ベテランに口頭で確認している。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課題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更新が個人の負担になる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作業が変わっても手順書は直されない。担当者が異動すると、更新は完全に止まってしまう。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課題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教える時間が減らない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手順書があっても使われないため、新しく入った人への説明は毎回ゼロから行われている。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3つの特長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特長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画面を撮るだけで下書きになる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操作を記録すると、画面キャプチャと手順の下書きが自動生成。あとは文章を整えるだけで公開できる。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特長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公開した瞬間に、現場の版が変わる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更新すると閲覧側は常に最新版を参照。古い版は履歴として残るため、いつ何を変えたか追跡できる。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8A6B"/>
                </a:solidFill>
                <a:latin typeface="Yu Gothic"/>
              </a:rPr>
              <a:t>特長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読まれていない手順書が分かる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閲覧数と検索されたが見つからなかった語を可視化。優先して直すべき手順書から着手できる。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導入イメージ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79776"/>
            <a:ext cx="10817352" cy="1905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8A6B"/>
                </a:solidFill>
                <a:latin typeface="Yu Gothic"/>
              </a:rPr>
              <a:t>STEP 1 ─ 1日目</a:t>
            </a:r>
          </a:p>
        </p:txBody>
      </p:sp>
      <p:sp>
        <p:nvSpPr>
          <p:cNvPr id="8" name="Oval 7"/>
          <p:cNvSpPr/>
          <p:nvPr/>
        </p:nvSpPr>
        <p:spPr>
          <a:xfrm>
            <a:off x="704088" y="2670048"/>
            <a:ext cx="219456" cy="219456"/>
          </a:xfrm>
          <a:prstGeom prst="ellipse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アカウント発行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メールアドレスのみで開始。インストールは不要で、当日から利用できます。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8A6B"/>
                </a:solidFill>
                <a:latin typeface="Yu Gothic"/>
              </a:rPr>
              <a:t>STEP 2 ─ 1週目</a:t>
            </a:r>
          </a:p>
        </p:txBody>
      </p:sp>
      <p:sp>
        <p:nvSpPr>
          <p:cNvPr id="13" name="Oval 12"/>
          <p:cNvSpPr/>
          <p:nvPr/>
        </p:nvSpPr>
        <p:spPr>
          <a:xfrm>
            <a:off x="3477006" y="2670048"/>
            <a:ext cx="219456" cy="219456"/>
          </a:xfrm>
          <a:prstGeom prst="ellipse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8718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3038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既存資料の取り込み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038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WordやPDFをそのまま取り込み。構造を自動で解析して手順書の形に整えます。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8A6B"/>
                </a:solidFill>
                <a:latin typeface="Yu Gothic"/>
              </a:rPr>
              <a:t>STEP 3 ─ 2週目</a:t>
            </a:r>
          </a:p>
        </p:txBody>
      </p:sp>
      <p:sp>
        <p:nvSpPr>
          <p:cNvPr id="18" name="Oval 17"/>
          <p:cNvSpPr/>
          <p:nvPr/>
        </p:nvSpPr>
        <p:spPr>
          <a:xfrm>
            <a:off x="6249924" y="2670048"/>
            <a:ext cx="219456" cy="219456"/>
          </a:xfrm>
          <a:prstGeom prst="ellipse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5956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現場への公開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956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部署ごとに閲覧範囲を設定し、二次元コードで現場から直接開けるようにします。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4554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E8A6B"/>
                </a:solidFill>
                <a:latin typeface="Yu Gothic"/>
              </a:rPr>
              <a:t>STEP 4 ─ 1か月目</a:t>
            </a:r>
          </a:p>
        </p:txBody>
      </p:sp>
      <p:sp>
        <p:nvSpPr>
          <p:cNvPr id="23" name="Oval 22"/>
          <p:cNvSpPr/>
          <p:nvPr/>
        </p:nvSpPr>
        <p:spPr>
          <a:xfrm>
            <a:off x="9022842" y="2670048"/>
            <a:ext cx="219456" cy="219456"/>
          </a:xfrm>
          <a:prstGeom prst="ellipse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4554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8874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見直しの定着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8874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閲覧状況をもとに、更新が必要な手順書を月次で洗い出します。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料金プラン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0817352" cy="475488"/>
          </a:xfrm>
          <a:prstGeom prst="rect">
            <a:avLst/>
          </a:prstGeom>
          <a:solidFill>
            <a:srgbClr val="10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210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6785" y="2084832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月額（税抜）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0255" y="2084832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利用人数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1031" y="2084832"/>
            <a:ext cx="4268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主な機能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41448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16936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560320"/>
            <a:ext cx="210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スターター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6785" y="2560320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9,800円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0255" y="2560320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〜10名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1031" y="2560320"/>
            <a:ext cx="4268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手順書作成・公開・版管理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92424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035808"/>
            <a:ext cx="210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スタンダード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6785" y="3035808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29,800円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0255" y="3035808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〜50名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1031" y="3035808"/>
            <a:ext cx="4268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＋ 閲覧分析・権限管理・二次元コード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92424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867912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511296"/>
            <a:ext cx="210549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エンタープライズ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6785" y="3511296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個別見積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0255" y="3511296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51名〜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1031" y="3511296"/>
            <a:ext cx="4268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＋ シングルサインオン・監査ログ・API連携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9FAD"/>
                </a:solidFill>
                <a:latin typeface="Yu Gothic"/>
              </a:rPr>
              <a:t>※ 架空のサービスを題材にした制作サンプルです。実在の価格ではありません。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導入効果（想定値）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2484882" cy="64008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E8A6B"/>
                </a:solidFill>
                <a:latin typeface="Yu Gothic"/>
              </a:rPr>
              <a:t>▲68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手順の問い合わせ件数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29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3290" y="2194560"/>
            <a:ext cx="2484882" cy="64008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329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E8A6B"/>
                </a:solidFill>
                <a:latin typeface="Yu Gothic"/>
              </a:rPr>
              <a:t>▲12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329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時間/月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教育にかかる時間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0780" y="2194560"/>
            <a:ext cx="2484882" cy="64008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E8A6B"/>
                </a:solidFill>
                <a:latin typeface="Yu Gothic"/>
              </a:rPr>
              <a:t>4.2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8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手順書の閲覧数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27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8270" y="2194560"/>
            <a:ext cx="2484882" cy="64008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827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0E8A6B"/>
                </a:solidFill>
                <a:latin typeface="Yu Gothi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27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週間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827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全社展開までの期間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8172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架空の想定モデルにもとづく参考値です。実データではありません。実際の効果は、既存資料の整備状況と運用体制によって変動します。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Yu Gothic"/>
              </a:rPr>
              <a:t>手順書を、現場が実際に見るものへ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C4CEDC"/>
                </a:solidFill>
                <a:latin typeface="Yu Gothic"/>
              </a:rPr>
              <a:t>作る負担を下げ、更新が自然に回る状態をつくることで、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C4CEDC"/>
                </a:solidFill>
                <a:latin typeface="Yu Gothic"/>
              </a:rPr>
              <a:t>「聞かないと分からない」を減らしていきます。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892040"/>
            <a:ext cx="2011680" cy="19050"/>
          </a:xfrm>
          <a:prstGeom prst="rect">
            <a:avLst/>
          </a:prstGeom>
          <a:solidFill>
            <a:srgbClr val="0E8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663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本資料は資料作成の制作サンプルです（架空サービス）　—　neo.solution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https://stylishdeeb4.github.io/portfolio/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